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bstract-p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4206240"/>
            <a:ext cx="3200400" cy="2560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5F1E6"/>
                </a:solidFill>
                <a:latin typeface="Microsoft YaHei"/>
              </a:rPr>
              <a:t>中草药多模态识别系统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C8A95C"/>
                </a:solidFill>
                <a:latin typeface="Microsoft YaHei"/>
              </a:rPr>
              <a:t>本草掠影 · Herb Recognition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5F1E6"/>
                </a:solidFill>
                <a:latin typeface="Microsoft YaHei"/>
              </a:rPr>
              <a:t>拍图识别 → 药性解析 → 知识图谱 → AI 问答 一体化科普辅助工具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C8A95C"/>
                </a:solidFill>
                <a:latin typeface="Microsoft YaHei"/>
              </a:rPr>
              <a:t>认证式交付物 · 项目介绍  |  多模态视觉 + 文本 + 知识图谱融合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一、项目背景与痛点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Why — 普通人识别与理解中草药的现实困难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D2E"/>
                </a:solidFill>
                <a:latin typeface="Microsoft YaHei"/>
              </a:rPr>
              <a:t>中医药知识庞大且分散，普通用户面临三重门槛：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</a:rPr>
              <a:t>• 种类繁多、外观相似：部分药材饮片形态接近，肉眼难辨（如人参切片 vs 西洋参）。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</a:rPr>
              <a:t>• 药性专业：性味、归经、功效、配伍禁忌需要系统知识，难以速查。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</a:rPr>
              <a:t>• 工具割裂：现有方案「只识别不解析」或「只查询不收图」，缺少完整闭环。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B53A29"/>
                </a:solidFill>
                <a:latin typeface="Microsoft YaHei"/>
              </a:rPr>
              <a:t>• 本项目目标：打通「识别—解析—推荐—问答」全链路，并标注知识来源以减少大模型幻觉。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二、系统总体架构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How — 视觉 + 文本 + 知识图谱 多模态融合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3D2E"/>
                </a:solidFill>
                <a:latin typeface="Microsoft YaHei"/>
              </a:rPr>
              <a:t>输入层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药材图片  /  文本描述（性味·归经·功效）  /  图文混合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D2E"/>
                </a:solidFill>
                <a:latin typeface="Microsoft YaHei"/>
              </a:rPr>
              <a:t>多模态识别引擎（核心）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视觉编码器 Swin-Tiny（ImageNet 预训练微调）+ 文本编码器 BERT-base-chinese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HCA 跨模态注意力融合（Cross-Attention Fusion），双分支自动切换：有文本走多模态、无文本走纯视觉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D2E"/>
                </a:solidFill>
                <a:latin typeface="Microsoft YaHei"/>
              </a:rPr>
              <a:t>知识与服务层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知识图谱（NetworkX 内存版：163 药材 + 方剂 + 十八反/十九畏规则）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RAG 检索（本地 BERT 语义检索 + 关键词降级）接入 AI 对话，回答附知识来源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53A29"/>
                </a:solidFill>
                <a:latin typeface="Microsoft YaHei"/>
              </a:rPr>
              <a:t>• 输出层：Top-5 识别 + 药材档案 + 相似/风险提示 + 关系图谱 + 可解释热力图 + 多轮问答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三、功能模块总览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五大模块构成完整闭环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3566160" cy="2194560"/>
          </a:xfrm>
          <a:prstGeom prst="rect">
            <a:avLst/>
          </a:prstGeom>
          <a:solidFill>
            <a:srgbClr val="1F3D2E"/>
          </a:solidFill>
          <a:ln w="19050">
            <a:solidFill>
              <a:srgbClr val="C8A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/>
            <a:r>
              <a:rPr sz="1800" b="1">
                <a:solidFill>
                  <a:srgbClr val="C8A95C"/>
                </a:solidFill>
                <a:latin typeface="Microsoft YaHei"/>
              </a:rPr>
              <a:t>A 识别引擎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5F1E6"/>
                </a:solidFill>
                <a:latin typeface="Microsoft YaHei"/>
              </a:rPr>
              <a:t>多模态 + 纯视觉双分支，Top-5 置信度，相似药材提示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4434840" y="1371600"/>
            <a:ext cx="3566160" cy="2194560"/>
          </a:xfrm>
          <a:prstGeom prst="rect">
            <a:avLst/>
          </a:prstGeom>
          <a:solidFill>
            <a:srgbClr val="1F3D2E"/>
          </a:solidFill>
          <a:ln w="19050">
            <a:solidFill>
              <a:srgbClr val="C8A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/>
            <a:r>
              <a:rPr sz="1800" b="1">
                <a:solidFill>
                  <a:srgbClr val="C8A95C"/>
                </a:solidFill>
                <a:latin typeface="Microsoft YaHei"/>
              </a:rPr>
              <a:t>B 知识图谱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5F1E6"/>
                </a:solidFill>
                <a:latin typeface="Microsoft YaHei"/>
              </a:rPr>
              <a:t>力导向关系图：十八反(红)、十九畏(橙)、相须相使(绿)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0" y="1371600"/>
            <a:ext cx="3566160" cy="2194560"/>
          </a:xfrm>
          <a:prstGeom prst="rect">
            <a:avLst/>
          </a:prstGeom>
          <a:solidFill>
            <a:srgbClr val="1F3D2E"/>
          </a:solidFill>
          <a:ln w="19050">
            <a:solidFill>
              <a:srgbClr val="C8A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/>
            <a:r>
              <a:rPr sz="1800" b="1">
                <a:solidFill>
                  <a:srgbClr val="C8A95C"/>
                </a:solidFill>
                <a:latin typeface="Microsoft YaHei"/>
              </a:rPr>
              <a:t>C 多模态交互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5F1E6"/>
                </a:solidFill>
                <a:latin typeface="Microsoft YaHei"/>
              </a:rPr>
              <a:t>图转文本、文本提问、RAG 多轮问答、图文混合提问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31920"/>
            <a:ext cx="3566160" cy="2194560"/>
          </a:xfrm>
          <a:prstGeom prst="rect">
            <a:avLst/>
          </a:prstGeom>
          <a:solidFill>
            <a:srgbClr val="1F3D2E"/>
          </a:solidFill>
          <a:ln w="19050">
            <a:solidFill>
              <a:srgbClr val="C8A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/>
            <a:r>
              <a:rPr sz="1800" b="1">
                <a:solidFill>
                  <a:srgbClr val="C8A95C"/>
                </a:solidFill>
                <a:latin typeface="Microsoft YaHei"/>
              </a:rPr>
              <a:t>D 结果展示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5F1E6"/>
                </a:solidFill>
                <a:latin typeface="Microsoft YaHei"/>
              </a:rPr>
              <a:t>药性大卡、Grad-CAM 可解释热力图、医疗风险提示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3931920"/>
            <a:ext cx="3566160" cy="2194560"/>
          </a:xfrm>
          <a:prstGeom prst="rect">
            <a:avLst/>
          </a:prstGeom>
          <a:solidFill>
            <a:srgbClr val="1F3D2E"/>
          </a:solidFill>
          <a:ln w="19050">
            <a:solidFill>
              <a:srgbClr val="C8A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l"/>
            <a:r>
              <a:rPr sz="1800" b="1">
                <a:solidFill>
                  <a:srgbClr val="C8A95C"/>
                </a:solidFill>
                <a:latin typeface="Microsoft YaHei"/>
              </a:rPr>
              <a:t>E 系统平台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F5F1E6"/>
                </a:solidFill>
                <a:latin typeface="Microsoft YaHei"/>
              </a:rPr>
              <a:t>新中式 Web 前端 + REST API + Gradio 备用演示端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模块 A · 图片识别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拖拽 / 点击 / Ctrl+V 上传 → Top-5 候选 + 药材档案大卡</a:t>
            </a:r>
          </a:p>
        </p:txBody>
      </p:sp>
      <p:pic>
        <p:nvPicPr>
          <p:cNvPr id="3" name="Picture 2" descr="gan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D2E"/>
                </a:solidFill>
                <a:latin typeface="Microsoft YaHei"/>
              </a:rPr>
              <a:t>能力要点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支持拖拽、点击、剪贴板(Ctrl+V)三种上传方式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输出 Top-5 识别候选与置信度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自动展示药材档案大卡：性味、归经、功效、相似药材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53A29"/>
                </a:solidFill>
                <a:latin typeface="Microsoft YaHei"/>
              </a:rPr>
              <a:t>• 纯视觉分支官方评测 Top-1 准确率 0.9548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医疗风险提示随结果一并展示，定位科普辅助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模块 B · 特性检索与知识图谱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按性味/归经/功效检索 + 关系可视化</a:t>
            </a:r>
          </a:p>
        </p:txBody>
      </p:sp>
      <p:pic>
        <p:nvPicPr>
          <p:cNvPr id="3" name="Picture 2" descr="gouqi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D2E"/>
                </a:solidFill>
                <a:latin typeface="Microsoft YaHei"/>
              </a:rPr>
              <a:t>能力要点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按性味 / 归经 / 功效条件筛选药材，卡片网格呈现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关系图谱力导向布局：红虚线=十八反、橙虚线=十九畏、绿实线=相须相使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图谱节点 163 味药材 + 13 经典方剂，内置配伍禁忌规则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支持 ?focus=药材名 聚焦查询（REST /graph）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模块 D · 可解释性（Grad-CAM）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热力图展示模型关注区域，提升可信度</a:t>
            </a:r>
          </a:p>
        </p:txBody>
      </p:sp>
      <p:pic>
        <p:nvPicPr>
          <p:cNvPr id="3" name="Picture 2" descr="chenp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D2E"/>
                </a:solidFill>
                <a:latin typeface="Microsoft YaHei"/>
              </a:rPr>
              <a:t>能力要点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生成识别依据的热力叠加图，直观展示关注区域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提供透明度滑条，可对比原图与热力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REST 接口 /explain 返回 PNG + X-Explain-Info 元信息头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53A29"/>
                </a:solidFill>
                <a:latin typeface="Microsoft YaHei"/>
              </a:rPr>
              <a:t>• 降低「黑箱」感，便于教学与验收演示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模块 C · AI 多轮对话（RAG 溯源）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大模型 + 本地知识库，回答附来源</a:t>
            </a:r>
          </a:p>
        </p:txBody>
      </p:sp>
      <p:pic>
        <p:nvPicPr>
          <p:cNvPr id="3" name="Picture 2" descr="huangq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3891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0" y="146304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D2E"/>
                </a:solidFill>
                <a:latin typeface="Microsoft YaHei"/>
              </a:rPr>
              <a:t>能力要点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支持多轮上下文（≤10 轮）、可附图提问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本地 BERT 语义检索 + 关键词降级，命中知识库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每条回答折叠展示知识来源（rag_sources），抑制幻觉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可选智谱 GLM 等 OpenAI 兼容接口，Key 走环境变量，失败自动降级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四、识别效果与官方评估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实测指标（evaluation/reports/eval_official_report.md）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D2E"/>
                </a:solidFill>
                <a:latin typeface="Microsoft YaHei"/>
              </a:rPr>
              <a:t>官方全量评测结果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B53A29"/>
                </a:solidFill>
                <a:latin typeface="Microsoft YaHei"/>
              </a:rPr>
              <a:t>• 有文本（多模态）Top-1 准确率：0.9995（Recall 1.0000）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B53A29"/>
                </a:solidFill>
                <a:latin typeface="Microsoft YaHei"/>
              </a:rPr>
              <a:t>• 无文本（纯视觉）Top-1 准确率：0.9548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2B2B2B"/>
                </a:solidFill>
                <a:latin typeface="Microsoft YaHei"/>
              </a:rPr>
              <a:t>• 文本辅助增益 Δacc：+0.0447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训练数据：256,767 张训练 / 10,000 张验证 / 163 类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硬件优化：面向 8G 显存，OOM 时降 batch_size=8 或 image_size=192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从零训练 Swin-Tiny 纯视觉仅 15-20%，启用 ImageNet 预训练微调后达 90%+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五、创新点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核心创新 / 体验创新 / 安全创新 三层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D2E"/>
                </a:solidFill>
                <a:latin typeface="Microsoft YaHei"/>
              </a:rPr>
              <a:t>核心创新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视觉 + 文本 + 知识图谱三模态融合，HCA 跨模态注意力统一表征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F3D2E"/>
                </a:solidFill>
                <a:latin typeface="Microsoft YaHei"/>
              </a:rPr>
              <a:t>体验创新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多模态混合输入 + 识别—解析—推荐—问答一体化闭环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Grad-CAM 可解释 + 方剂推荐 + 相似药材对比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F3D2E"/>
                </a:solidFill>
                <a:latin typeface="Microsoft YaHei"/>
              </a:rPr>
              <a:t>安全创新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RAG 溯源标注（每条回答附知识来源），抑制大模型幻觉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医疗风险提示贯穿全链路，明确定位科普辅助而非诊疗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53A29"/>
                </a:solidFill>
                <a:latin typeface="Microsoft YaHei"/>
              </a:rPr>
              <a:t>• 竞品对比：上述四项组合能力在同类工具中独此一份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六、技术栈与部署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8G 显存可运行，纯 Python 服务无需前端构建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D2E"/>
                </a:solidFill>
                <a:latin typeface="Microsoft YaHei"/>
              </a:rPr>
              <a:t>技术栈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PyTorch / timm / open-clip-torch（视觉多模态）、transformers BERT（文本）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NetworkX（知识图谱）、FastAPI + uvicorn（REST）、Gradio（演示）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F3D2E"/>
                </a:solidFill>
                <a:latin typeface="Microsoft YaHei"/>
              </a:rPr>
              <a:t>部署方式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一键安装：setup_env.bat（Windows）/ setup_env.sh（Linux/macOS）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启动：python main.py --mode serve（Web :8000）/ --mode demo（Gradio :7862）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提供 Dockerfile，支持 --gpus 容器化部署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环境自检：python check_environment.py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七、系统演示截图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新中式 Web 前端五大页签</a:t>
            </a:r>
          </a:p>
        </p:txBody>
      </p:sp>
      <p:pic>
        <p:nvPicPr>
          <p:cNvPr id="3" name="Picture 2" descr="shih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371600"/>
            <a:ext cx="2468880" cy="2468880"/>
          </a:xfrm>
          <a:prstGeom prst="rect">
            <a:avLst/>
          </a:prstGeom>
        </p:spPr>
      </p:pic>
      <p:pic>
        <p:nvPicPr>
          <p:cNvPr id="4" name="Picture 3" descr="honghu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371600"/>
            <a:ext cx="2468880" cy="2468880"/>
          </a:xfrm>
          <a:prstGeom prst="rect">
            <a:avLst/>
          </a:prstGeom>
        </p:spPr>
      </p:pic>
      <p:pic>
        <p:nvPicPr>
          <p:cNvPr id="5" name="Picture 4" descr="jinyihu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617" y="4023360"/>
            <a:ext cx="2683565" cy="2468880"/>
          </a:xfrm>
          <a:prstGeom prst="rect">
            <a:avLst/>
          </a:prstGeom>
        </p:spPr>
      </p:pic>
      <p:pic>
        <p:nvPicPr>
          <p:cNvPr id="6" name="Picture 5" descr="chenp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4023360"/>
            <a:ext cx="24688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八、交付物清单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认证式交付物对应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</a:rPr>
              <a:t>• 01_项目启动：项目启动报告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F3D2E"/>
                </a:solidFill>
                <a:latin typeface="Microsoft YaHei"/>
              </a:rPr>
              <a:t>• 02_系统实现和测试：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源代码（代码 + Dockerfile 部署文件 + 第三方组件清单）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数据库（数据说明文档，CSV/JSON 数据资产）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用户手册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项目介绍 PPT（本文件）</a:t>
            </a:r>
          </a:p>
          <a:p>
            <a:pPr algn="l" lvl="1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产品演示视频（可附录）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</a:rPr>
              <a:t>• 03_项目关闭总结报告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2B2B2B"/>
                </a:solidFill>
                <a:latin typeface="Microsoft YaHei"/>
              </a:rPr>
              <a:t>• 04_个人总结（成员各自完成）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l"/>
            <a:r>
              <a:rPr sz="2800" b="1">
                <a:solidFill>
                  <a:srgbClr val="F5F1E6"/>
                </a:solidFill>
                <a:latin typeface="Microsoft YaHei"/>
              </a:rPr>
              <a:t>九、总结与展望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8A95C"/>
                </a:solidFill>
                <a:latin typeface="Microsoft YaHei"/>
              </a:rPr>
              <a:t>Summary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3D2E"/>
                </a:solidFill>
                <a:latin typeface="Microsoft YaHei"/>
              </a:rPr>
              <a:t>已完成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五大模块核心闭环可用，官方评估多模态 Top-1 0.9995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完整文档、REST API、Gradio 与 Web 双前端、部署脚本齐备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F3D2E"/>
                </a:solidFill>
                <a:latin typeface="Microsoft YaHei"/>
              </a:rPr>
              <a:t>展望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扩充易混淆/毒药材样例集，增强鲁棒性演示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可选接入 Neo4j 持久化图谱，支持更大规模推理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B2B2B"/>
                </a:solidFill>
                <a:latin typeface="Microsoft YaHei"/>
              </a:rPr>
              <a:t>• 端侧轻量化导出（tools/export_model.py 已支持）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1E6"/>
                </a:solidFill>
                <a:latin typeface="Microsoft YaHei"/>
              </a:rPr>
              <a:t>本草掠影 · 让识药更可信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C8A95C"/>
                </a:solidFill>
                <a:latin typeface="Microsoft YaHei"/>
              </a:rPr>
              <a:t>Thanks — 中草药多模态识别系统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5F1E6"/>
                </a:solidFill>
                <a:latin typeface="Microsoft YaHei"/>
              </a:rPr>
              <a:t>免责声明：本系统为中医药科普辅助工具，不构成医疗建议。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