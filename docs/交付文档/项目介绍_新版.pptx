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bstract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206240"/>
            <a:ext cx="3200400" cy="256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5F1E6"/>
                </a:solidFill>
                <a:latin typeface="Microsoft YaHei"/>
              </a:rPr>
              <a:t>中草药多模态识别系统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C8A95C"/>
                </a:solidFill>
                <a:latin typeface="Microsoft YaHei"/>
              </a:rPr>
              <a:t>本草掠影 · Herb Recognition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5F1E6"/>
                </a:solidFill>
                <a:latin typeface="Microsoft YaHei"/>
              </a:rPr>
              <a:t>视觉 + 文本 + 知识图谱融合的中医药智能识别与药性分析平台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8A95C"/>
                </a:solidFill>
                <a:latin typeface="Microsoft YaHei"/>
              </a:rPr>
              <a:t>拍一张药材照片，即可识别、解析药性、推演配伍与方剂 — 认证式交付物 · 项目介绍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目录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一、项目背景与痛点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八、功能总览（一表看懂）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二、系统总览与总体架构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九、官方评估指标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三、模块一 · 多模态识别引擎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十、技术栈与部署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四、模块二 · 中医药知识图谱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十一、创新点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五、模块三 · 特性检索与方剂推荐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十二、不足与改进方向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六、模块四 · RAG 问答与可解释性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十三、总结与交付物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七、模块五 · 交互展示与平台接入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一、项目背景与痛点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Why — 普通人识别与理解中草药的现实困难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为什么做？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种类繁多、外观相似度高：传统辨认高度依赖经验，普通用户/基层人员难快速准确识别。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药性专业且零散：性味、归经、配伍禁忌、方剂知识体量大，散落古籍药典，查阅效率低。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工具割裂：市面识别工具大多「只识图、不识药」——识别完即结束，缺中医药知识联动。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53A29"/>
                </a:solidFill>
                <a:latin typeface="Microsoft YaHei"/>
              </a:rPr>
              <a:t>• 共性风险：相似药材极易混淆，误识别+误用药=健康风险；缺置信度提示与风险警示。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D2E"/>
                </a:solidFill>
                <a:latin typeface="Microsoft YaHei"/>
              </a:rPr>
              <a:t>• 目标：打通「识别—解析—推荐—问答」全链路，并标注知识来源以抑制大模型幻觉；定位科普辅助，全程医疗风险提示。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二、系统总览与总体架构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How — 四层架构：输入 → 多模态引擎 → 知识服务 → 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D2E"/>
                </a:solidFill>
                <a:latin typeface="Microsoft YaHei"/>
              </a:rPr>
              <a:t>输入层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药材图片（原植物/饮片/干药材）+ 可选文本（性味·归经·功效·提问）；支持拖拽/点击/Ctrl+V。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多模态识别引擎（核心）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Swin-Tiny 视觉编码 + BERT 中文编码 + HCA 跨模态注意力融合；双分支自动切换（有文本走多模态，无文本走纯视觉）。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知识服务层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中医药知识图谱（200+ 药材、12 首方剂、十八反/十九畏规则）+ RAG 语义检索 + 方剂/相似药推荐。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交互层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新中式 Web 单页应用 + Gradio 调试端 + FastAPI REST API（可服务化）。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三、模块一 · 多模态识别引擎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技术核心：视觉 + 文本 + HCA 融合，面向 8G 显存优化</a:t>
            </a:r>
          </a:p>
        </p:txBody>
      </p:sp>
      <p:pic>
        <p:nvPicPr>
          <p:cNvPr id="3" name="Picture 2" descr="gan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1732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技术选型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关键设计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视觉：Swin-Tiny（window attention，约 2.6G；备选 EfficientNet-B0/ResNet50/ConvNeXt-Tiny）。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文本：BERT-base-chinese（冻结主干，仅训投影层省算力）。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融合：HCA-Fusion 层级式跨模态注意力（自研）。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分类头：多模态分支 + 纯视觉保底双分支。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模拟中医「望闻问切」互补：视觉/文本 token 互为 Q/K/V 交叉注意力，再自注意力精炼。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双分支保底：文本为空自动走纯视觉，根本保证「无文本也能靠图识别」。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B53A29"/>
                </a:solidFill>
                <a:latin typeface="Microsoft YaHei"/>
              </a:rPr>
              <a:t>• 启用 ImageNet 预训练微调：从零训练仅 15-20%，微调后纯视觉达 90%+。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模块一（续）· 推理流程与易混鉴别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从像素到药材档案，并对相似药主动提示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推理流程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图片 → Swin-Tiny 提特征 → 投影到 embed_dim(512)。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文本 → BERT 提 [CLS] → 投影到同维度。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HCA 融合 → 多模态 logits（有文本）/ 纯视觉 logits（无文本）。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输出 Top-5 识别 + 置信度徽章。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易混鉴别（16 组对照库）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白术/苍术、半夏/天南星、人参/党参、枸杞/地骨皮…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输出外观差异 + 简易鉴别法（嗅闻/口尝/水试）。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连带功效与毒性提示，辅助人工复核，降低误用风险。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四、模块二 · 中医药知识图谱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数据驱动的关系网络 + 硬编码领域安全红线</a:t>
            </a:r>
          </a:p>
        </p:txBody>
      </p:sp>
      <p:pic>
        <p:nvPicPr>
          <p:cNvPr id="3" name="Picture 2" descr="gouqi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1732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构建与规模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关系类型（边）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内置安全红线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内存版 NetworkX（可选 Neo4j 持久化），CSV 加载节点与多类型关系。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200+ 药材节点、12 首经典方剂、151 条增量字段（别名/病症/个体禁忌）。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paired 相须相使 · incompatible 十八反 · restraint 十九畏 · category/meridian 功效与归经维度。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硬编码十八反/十九畏歌诀，未收录药材也能被查询与可视化，避免盲区。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B53A29"/>
                </a:solidFill>
                <a:latin typeface="Microsoft YaHei"/>
              </a:rPr>
              <a:t>• 毒性自动分级（大毒/有毒/小毒/微毒），强制弹窗警示。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五、模块三 · 特性检索与方剂推荐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把识别结果自动联动药性，并规避危险配伍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特性检索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相似药推荐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方剂推荐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自然语言输入「味甘平，归肝肾经」「清热明目」→ 解析为性味/归经/功效三类条件逐味打分。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输出「完全匹配/部分匹配」卡片（印章式角标），支持按药材名批量查询。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功效分类×3 + 功效 n-gram×2 + 性味×1 + 归经×1 综合打分，仅推功效相近者，辅助辨证选药。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基于「主治功效匹配 + 常用配伍 + 禁忌规避」打分排序；命中十八反/十九畏直接剔除，从源头规避危险配伍。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返回组成、来源、主治、用法、警示，并标注配伍风险。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六、模块四 · RAG 问答与可解释性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可溯源回答 + 模型关注可视化，降低黑箱感</a:t>
            </a:r>
          </a:p>
        </p:txBody>
      </p:sp>
      <p:pic>
        <p:nvPicPr>
          <p:cNvPr id="3" name="Picture 2" descr="chen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1732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RAG 增强问答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可解释性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本地 BERT 对知识切片做中文语义向量检索，为 LLM 组装专家上下文。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策略：药名精确命中优先 + 语义 Top-K 补充；回答附「知识库来源」折叠卡，减幻觉。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离线可用、零新增依赖；BERT 失败自动降级关键词匹配，不抛异常。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外部 LLM（智谱 GLM）无 Key/失败 → 自动降级返回本地图谱结果。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Grad-CAM 热力图：滑块实时调透明度，展示模型「看哪里」。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B53A29"/>
                </a:solidFill>
                <a:latin typeface="Microsoft YaHei"/>
              </a:rPr>
              <a:t>• 推理路径：识别→图谱查询→推荐 全链路可追溯，回答附来源标注。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七、模块五 · 交互展示与平台接入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三端入口：新中式 Web / Gradio /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D2E"/>
                </a:solidFill>
                <a:latin typeface="Microsoft YaHei"/>
              </a:rPr>
              <a:t>新中式 Web 前端（推荐入口，原生 HTML/CSS/JS，FastAPI 托管）</a:t>
            </a:r>
            <a:r>
              <a:rPr sz="1600" b="1">
                <a:solidFill>
                  <a:srgbClr val="1F3D2E"/>
                </a:solidFill>
                <a:latin typeface="Microsoft YaHei"/>
              </a:rPr>
              <a:t>Gradio 演示 / REST 服务化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图片识别 / 特性检索 / Grad-CAM / AI 对话 / 药材关系图谱 五页签。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关系图谱力导向网络（拖拽/缩放/点击）：红虚线=十八反、橙虚线=十九畏、绿实线=相须相使。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Gradio 调试端 5 页签与前端一致；python main.py --mode serve 提供 API。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/predict 识别 · /search 检索 · /explain 热图 · /chat 对话 · /graph 图谱 · /herbs 列表。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端侧：导出纯视觉分支为 TorchScript（tools/export_model.py），输出 [B,163] logits，无需文本模型。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八、功能总览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一表看懂：输入 / 输出 / 技术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3291840"/>
                <a:gridCol w="28346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1E6"/>
                          </a:solidFill>
                          <a:latin typeface="Microsoft YaHei"/>
                        </a:rPr>
                        <a:t>功能</a:t>
                      </a:r>
                    </a:p>
                  </a:txBody>
                  <a:tcPr anchor="ctr" marL="73152" marT="27432" marB="27432">
                    <a:solidFill>
                      <a:srgbClr val="1F3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1E6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anchor="ctr" marL="73152" marT="27432" marB="27432">
                    <a:solidFill>
                      <a:srgbClr val="1F3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1E6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anchor="ctr" marL="73152" marT="27432" marB="27432">
                    <a:solidFill>
                      <a:srgbClr val="1F3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5F1E6"/>
                          </a:solidFill>
                          <a:latin typeface="Microsoft YaHei"/>
                        </a:rPr>
                        <a:t>技术</a:t>
                      </a:r>
                    </a:p>
                  </a:txBody>
                  <a:tcPr anchor="ctr" marL="73152" marT="27432" marB="27432">
                    <a:solidFill>
                      <a:srgbClr val="1F3D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多模态识别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图 + 文本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Top-5 + 置信度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Swin + BERT + HCA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易混鉴别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识别结果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外观差异 + 鉴别法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16 组对照库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特性检索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性味/归经/功效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完全/部分匹配卡片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条件解析 + 打分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相似药推荐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药材名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功效相近药材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多维度相似度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方剂推荐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主药 + 症状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经典方剂 + 风险提示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功效匹配 + 禁忌规避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AI 对话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文 + 图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专家级解释 + 来源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RAG + LLM</a:t>
                      </a:r>
                    </a:p>
                  </a:txBody>
                  <a:tcPr anchor="ctr" marL="73152" marT="27432" marB="27432">
                    <a:solidFill>
                      <a:srgbClr val="ECE7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关系图谱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聚焦药材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配伍/禁忌网络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Microsoft YaHei"/>
                        </a:rPr>
                        <a:t>NetworkX + 力导向</a:t>
                      </a:r>
                    </a:p>
                  </a:txBody>
                  <a:tcPr anchor="ctr" marL="73152" marT="27432" marB="27432">
                    <a:solidFill>
                      <a:srgbClr val="F5F1E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九、官方评估指标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实测（evaluation/reports/eval_official_report.md）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评估设定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核心指标</a:t>
            </a:r>
            <a:r>
              <a:rPr sz="1700" b="1">
                <a:solidFill>
                  <a:srgbClr val="1F3D2E"/>
                </a:solidFill>
                <a:latin typeface="Microsoft YaHei"/>
              </a:rPr>
              <a:t>错误分析（诚实呈现）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数据集：val 10000 张 / 163 类；权重 best_model.pth（Epoch 5，510.9 MB）。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推理：有文本走多模态，无文本走纯视觉分支。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B53A29"/>
                </a:solidFill>
                <a:latin typeface="Microsoft YaHei"/>
              </a:rPr>
              <a:t>• 多模态（有文本）：Accuracy 0.9995，Top-5 1.0000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B53A29"/>
                </a:solidFill>
                <a:latin typeface="Microsoft YaHei"/>
              </a:rPr>
              <a:t>• 纯视觉（无文本）：Accuracy 0.9548，Top-5 0.9965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文本辅助增益 Δacc：+0.0447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163 类中 159 类 precision/recall/f1 全部 = 1.00；错误仅 4 类，且全是「同药不同形态」（首乌藤块/片、天麻块/片）互混——人为拆类的固有难度。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最难的首乌藤块/片模型仍能 95% 区分。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十、技术栈与部署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8G 显存友好，纯 Python 服务无需前端构建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技术栈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视觉：timm（Swin-Tiny 等）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文本：Transformers（BERT）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融合/分类：PyTorch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图谱：NetworkX（CSV 驱动）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检索：本地 BERT 语义向量（CPU）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服务：FastAPI + Gradio；前端原生 HTML/CSS/JS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部署与硬件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面向 8G 显存（bs=16, 224；OOM 降至 8 / 192）。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一键环境：setup_env.bat / .sh；自检 check_environment.py。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启动：python main.py --mode serve（:8000）/ --mode demo（:7862）。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YaHei"/>
              </a:rPr>
              <a:t>• 默认绑定 0.0.0.0，同局域网可直访；公网借内网穿透/云服务器。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53A29"/>
                </a:solidFill>
                <a:latin typeface="Microsoft YaHei"/>
              </a:rPr>
              <a:t>• 端侧：TorchScript 导出纯视觉分支，快速识图。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十一、创新点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核心 / 体验 / 安全 三层创新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700"/>
              </a:spcAft>
            </a:pPr>
            <a:r>
              <a:rPr sz="1450" b="1">
                <a:solidFill>
                  <a:srgbClr val="2B2B2B"/>
                </a:solidFill>
                <a:latin typeface="Microsoft YaHei"/>
              </a:rPr>
              <a:t>1. 多模态互补识别：视觉+文本+HCA 融合，文本辅助增益 +4.47 点，模拟中医「望闻问切」互补。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2B2B2B"/>
                </a:solidFill>
                <a:latin typeface="Microsoft YaHei"/>
              </a:rPr>
              <a:t>2. 双分支保底架构：纯视觉分支保证无文本也能识别，消除「缺文本即失效」单点风险。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2B2B2B"/>
                </a:solidFill>
                <a:latin typeface="Microsoft YaHei"/>
              </a:rPr>
              <a:t>3. 图谱驱动解析与推荐：识别自动联动药性/归经/功效/毒性，并基于十八反/十九畏做禁忌规避，形成闭环。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2B2B2B"/>
                </a:solidFill>
                <a:latin typeface="Microsoft YaHei"/>
              </a:rPr>
              <a:t>4. RAG 可溯源问答：本地语义检索 + 来源标注，离线可用、自动降级，显著降低幻觉。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2B2B2B"/>
                </a:solidFill>
                <a:latin typeface="Microsoft YaHei"/>
              </a:rPr>
              <a:t>5. 可解释与安全并重：Grad-CAM + 推理路径 + 毒性强制警示 + 置信度提示，做成默认能力。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2B2B2B"/>
                </a:solidFill>
                <a:latin typeface="Microsoft YaHei"/>
              </a:rPr>
              <a:t>6. 轻量可落地：8G 显存友好、纯前端零构建、REST 可服务化、端侧可导出。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十二、不足与改进方向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诚实自检：把短板讲成可信度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solidFill>
            <a:srgbClr val="B53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600" b="1">
                <a:solidFill>
                  <a:srgbClr val="F5F1E6"/>
                </a:solidFill>
                <a:latin typeface="Microsoft YaHei"/>
              </a:rPr>
              <a:t>当前不足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数据规模有限：识别 163 类/图谱 200+，距万级品类差距大；长尾靠小样本补足。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块/片形态易混：同药不同形态（首乌藤、天麻）仍互混，需细粒度标注。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图谱偏静态：内存版规模受限，方剂仅 12 首，深度与时效性不足。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文本依赖人工标注：未做古籍/药典自动抽取，RAG 语料覆盖有限。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LLM 受限于外部 Key：无 Key 退化为本地检索，解释性下降。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缺量化与对抗评测：光照/角度/跨域鲁棒性未系统测试。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• 安全边界有限：无在线药师审核、个性化风险评估。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25880"/>
            <a:ext cx="5486400" cy="45720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600" b="1">
                <a:solidFill>
                  <a:srgbClr val="F5F1E6"/>
                </a:solidFill>
                <a:latin typeface="Microsoft YaHei"/>
              </a:rPr>
              <a:t>改进方向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74519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扩充样本与细粒度形态标注（含块/片变体）。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接入 Neo4j 持久化图谱，支持更大规模推理。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引入自动知识抽取（LLM/规则）丰富图谱与语料。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增加古籍/药典自动抽取，扩展 RAG 覆盖。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接入更稳的 LLM 或本地小模型，提升无 Key 体验。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建立鲁棒性与对抗评测基准（光照/角度/跨域）。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F3D2E"/>
                </a:solidFill>
                <a:latin typeface="Microsoft YaHei"/>
              </a:rPr>
              <a:t>• 构建「识别+风险分级+人工复核」闭环，明确科普/诊断边界。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十三、系统演示截图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新中式 Web 前端五大页签</a:t>
            </a:r>
          </a:p>
        </p:txBody>
      </p:sp>
      <p:pic>
        <p:nvPicPr>
          <p:cNvPr id="3" name="Picture 2" descr="shi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71600"/>
            <a:ext cx="2468880" cy="2468880"/>
          </a:xfrm>
          <a:prstGeom prst="rect">
            <a:avLst/>
          </a:prstGeom>
        </p:spPr>
      </p:pic>
      <p:pic>
        <p:nvPicPr>
          <p:cNvPr id="4" name="Picture 3" descr="hongh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71600"/>
            <a:ext cx="2468880" cy="2468880"/>
          </a:xfrm>
          <a:prstGeom prst="rect">
            <a:avLst/>
          </a:prstGeom>
        </p:spPr>
      </p:pic>
      <p:pic>
        <p:nvPicPr>
          <p:cNvPr id="5" name="Picture 4" descr="jinyihu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617" y="4023360"/>
            <a:ext cx="2683565" cy="2468880"/>
          </a:xfrm>
          <a:prstGeom prst="rect">
            <a:avLst/>
          </a:prstGeom>
        </p:spPr>
      </p:pic>
      <p:pic>
        <p:nvPicPr>
          <p:cNvPr id="6" name="Picture 5" descr="chenp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023360"/>
            <a:ext cx="24688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十四、总结与交付物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Summary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总结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一套「识别—解析—推荐—可解释」闭环的中草药多模态智能体，8G 显存下达多模态 0.9995 / 纯视觉 0.9548。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亮点：跨模态融合、图谱驱动推荐、RAG 可溯源问答、安全可解释；不足集中在数据规模、形态细粒度与知识深度，已列改进路径。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交付物（docs/交付文档/）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项目介绍.pptx（本演示）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用户手册 / 部署说明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评估报告（evaluation/reports/）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B2B2B"/>
                </a:solidFill>
                <a:latin typeface="Microsoft YaHei"/>
              </a:rPr>
              <a:t>• 一键环境脚本与端侧导出工具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B53A29"/>
                </a:solidFill>
                <a:latin typeface="Microsoft YaHei"/>
              </a:rPr>
              <a:t>• 郑重声明：科普辅助工具，结果仅供参考，严禁自行开方用药。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1E6"/>
                </a:solidFill>
                <a:latin typeface="Microsoft YaHei"/>
              </a:rPr>
              <a:t>本草掠影 · 让识药更可信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8A95C"/>
                </a:solidFill>
                <a:latin typeface="Microsoft YaHei"/>
              </a:rPr>
              <a:t>Thanks — 中草药多模态识别系统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